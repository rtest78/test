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3f20462fab4f9b" /><Relationship Type="http://schemas.openxmlformats.org/officeDocument/2006/relationships/extended-properties" Target="/docProps/app.xml" Id="R26993bd73a7d485a" /><Relationship Type="http://schemas.openxmlformats.org/officeDocument/2006/relationships/officeDocument" Target="/ppt/presentation.xml" Id="Rbe161a1a378c44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97f3e143804312"/>
  </p:sldMasterIdLst>
  <p:notesMasterIdLst>
    <p:notesMasterId xmlns:r="http://schemas.openxmlformats.org/officeDocument/2006/relationships" r:id="Re3c2fc2c15434d0c"/>
  </p:notesMasterIdLst>
  <p:sldIdLst>
    <p:sldId xmlns:r="http://schemas.openxmlformats.org/officeDocument/2006/relationships" id="256" r:id="R9e0d688e86e94796"/>
    <p:sldId xmlns:r="http://schemas.openxmlformats.org/officeDocument/2006/relationships" id="257" r:id="R36654f6b9e2d4538"/>
    <p:sldId xmlns:r="http://schemas.openxmlformats.org/officeDocument/2006/relationships" id="258" r:id="R3c278b1ccee142b7"/>
    <p:sldId xmlns:r="http://schemas.openxmlformats.org/officeDocument/2006/relationships" id="259" r:id="Rc1cf6da6189f486b"/>
    <p:sldId xmlns:r="http://schemas.openxmlformats.org/officeDocument/2006/relationships" id="260" r:id="R3415a9e00cc343b3"/>
    <p:sldId xmlns:r="http://schemas.openxmlformats.org/officeDocument/2006/relationships" id="261" r:id="R4efed068aafa4954"/>
    <p:sldId xmlns:r="http://schemas.openxmlformats.org/officeDocument/2006/relationships" id="262" r:id="R3361c4eb1f2c4c46"/>
    <p:sldId xmlns:r="http://schemas.openxmlformats.org/officeDocument/2006/relationships" id="263" r:id="Rb309da7c56a3420c"/>
    <p:sldId xmlns:r="http://schemas.openxmlformats.org/officeDocument/2006/relationships" id="264" r:id="R1a761c9bcf7a4f5c"/>
    <p:sldId xmlns:r="http://schemas.openxmlformats.org/officeDocument/2006/relationships" id="265" r:id="Rc1c80bd888d949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25ad6d28a9404c" /><Relationship Type="http://schemas.openxmlformats.org/officeDocument/2006/relationships/slideMaster" Target="/ppt/slideMasters/slideMaster1.xml" Id="Rcd97f3e143804312" /><Relationship Type="http://schemas.openxmlformats.org/officeDocument/2006/relationships/notesMaster" Target="/ppt/notesMasters/notesMaster1.xml" Id="Re3c2fc2c15434d0c" /><Relationship Type="http://schemas.openxmlformats.org/officeDocument/2006/relationships/presProps" Target="/ppt/presProps.xml" Id="R8b42e0a5a1cd4749" /><Relationship Type="http://schemas.openxmlformats.org/officeDocument/2006/relationships/tableStyles" Target="/ppt/tableStyles.xml" Id="R6bcbb480456c4d02" /><Relationship Type="http://schemas.openxmlformats.org/officeDocument/2006/relationships/slide" Target="/ppt/slides/slide1.xml" Id="R9e0d688e86e94796" /><Relationship Type="http://schemas.openxmlformats.org/officeDocument/2006/relationships/slide" Target="/ppt/slides/slide2.xml" Id="R36654f6b9e2d4538" /><Relationship Type="http://schemas.openxmlformats.org/officeDocument/2006/relationships/slide" Target="/ppt/slides/slide3.xml" Id="R3c278b1ccee142b7" /><Relationship Type="http://schemas.openxmlformats.org/officeDocument/2006/relationships/slide" Target="/ppt/slides/slide4.xml" Id="Rc1cf6da6189f486b" /><Relationship Type="http://schemas.openxmlformats.org/officeDocument/2006/relationships/slide" Target="/ppt/slides/slide5.xml" Id="R3415a9e00cc343b3" /><Relationship Type="http://schemas.openxmlformats.org/officeDocument/2006/relationships/slide" Target="/ppt/slides/slide6.xml" Id="R4efed068aafa4954" /><Relationship Type="http://schemas.openxmlformats.org/officeDocument/2006/relationships/slide" Target="/ppt/slides/slide7.xml" Id="R3361c4eb1f2c4c46" /><Relationship Type="http://schemas.openxmlformats.org/officeDocument/2006/relationships/slide" Target="/ppt/slides/slide8.xml" Id="Rb309da7c56a3420c" /><Relationship Type="http://schemas.openxmlformats.org/officeDocument/2006/relationships/slide" Target="/ppt/slides/slide9.xml" Id="R1a761c9bcf7a4f5c" /><Relationship Type="http://schemas.openxmlformats.org/officeDocument/2006/relationships/slide" Target="/ppt/slides/slide10.xml" Id="Rc1c80bd888d949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330289463747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3e6671520641a9" /><Relationship Type="http://schemas.openxmlformats.org/officeDocument/2006/relationships/notesMaster" Target="/ppt/notesMasters/notesMaster1.xml" Id="R78d7f02da71c4f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d13be409b04407" /><Relationship Type="http://schemas.openxmlformats.org/officeDocument/2006/relationships/notesMaster" Target="/ppt/notesMasters/notesMaster1.xml" Id="R6f767e77835d4c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45e7e44cd3417e" /><Relationship Type="http://schemas.openxmlformats.org/officeDocument/2006/relationships/notesMaster" Target="/ppt/notesMasters/notesMaster1.xml" Id="Rf2eb8c214fb248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167728398b4d28" /><Relationship Type="http://schemas.openxmlformats.org/officeDocument/2006/relationships/notesMaster" Target="/ppt/notesMasters/notesMaster1.xml" Id="R460bd41c092345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db49361c8a45d8" /><Relationship Type="http://schemas.openxmlformats.org/officeDocument/2006/relationships/notesMaster" Target="/ppt/notesMasters/notesMaster1.xml" Id="Rf6b1f762ec784b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f01d3c23c244a6" /><Relationship Type="http://schemas.openxmlformats.org/officeDocument/2006/relationships/notesMaster" Target="/ppt/notesMasters/notesMaster1.xml" Id="Ra25f09d360774e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d17cdbddf544e9" /><Relationship Type="http://schemas.openxmlformats.org/officeDocument/2006/relationships/notesMaster" Target="/ppt/notesMasters/notesMaster1.xml" Id="Rb01bf20ac1344b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78122c521e4742" /><Relationship Type="http://schemas.openxmlformats.org/officeDocument/2006/relationships/notesMaster" Target="/ppt/notesMasters/notesMaster1.xml" Id="Rbb260304e70c4e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8ee2babb8747a8" /><Relationship Type="http://schemas.openxmlformats.org/officeDocument/2006/relationships/notesMaster" Target="/ppt/notesMasters/notesMaster1.xml" Id="R1b69f1295e6e46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dfe60d3ce64bce" /><Relationship Type="http://schemas.openxmlformats.org/officeDocument/2006/relationships/notesMaster" Target="/ppt/notesMasters/notesMaster1.xml" Id="R0ddeff62a8f54f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197ceec6de45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26b175b7b04108" /><Relationship Type="http://schemas.openxmlformats.org/officeDocument/2006/relationships/slideLayout" Target="/ppt/slideLayouts/slideLayout1.xml" Id="R2aa49780bddb47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a49780bddb47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17ba14c0c4162" /><Relationship Type="http://schemas.openxmlformats.org/officeDocument/2006/relationships/notesSlide" Target="/ppt/notesSlides/notesSlide1.xml" Id="R24f17afa198745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28dd28943400a" /><Relationship Type="http://schemas.openxmlformats.org/officeDocument/2006/relationships/image" Target="/ppt/media/image.png" Id="R416217c2896d49de" /><Relationship Type="http://schemas.openxmlformats.org/officeDocument/2006/relationships/notesSlide" Target="/ppt/notesSlides/notesSlide2.xml" Id="Raaf880221f5a4c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eef415f094144" /><Relationship Type="http://schemas.openxmlformats.org/officeDocument/2006/relationships/notesSlide" Target="/ppt/notesSlides/notesSlide3.xml" Id="R1eabfbe6f8f44e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95ae26e464d5e" /><Relationship Type="http://schemas.openxmlformats.org/officeDocument/2006/relationships/notesSlide" Target="/ppt/notesSlides/notesSlide4.xml" Id="R9a7e1b57dc8941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33b163196404d" /><Relationship Type="http://schemas.openxmlformats.org/officeDocument/2006/relationships/image" Target="/ppt/media/image2.png" Id="R97888eaf6fc645b1" /><Relationship Type="http://schemas.openxmlformats.org/officeDocument/2006/relationships/notesSlide" Target="/ppt/notesSlides/notesSlide5.xml" Id="Re558ee2e81444d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70a468efc4f4f" /><Relationship Type="http://schemas.openxmlformats.org/officeDocument/2006/relationships/image" Target="/ppt/media/image3.png" Id="R6cfa3304cdc24ce4" /><Relationship Type="http://schemas.openxmlformats.org/officeDocument/2006/relationships/notesSlide" Target="/ppt/notesSlides/notesSlide6.xml" Id="R403e9d3b54c541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c58056ff542c2" /><Relationship Type="http://schemas.openxmlformats.org/officeDocument/2006/relationships/image" Target="/ppt/media/image4.png" Id="Rb3ee66cb4bb040da" /><Relationship Type="http://schemas.openxmlformats.org/officeDocument/2006/relationships/notesSlide" Target="/ppt/notesSlides/notesSlide7.xml" Id="R30eca8f5012849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27a41fce04bd5" /><Relationship Type="http://schemas.openxmlformats.org/officeDocument/2006/relationships/image" Target="/ppt/media/image5.png" Id="R8950793839364d6c" /><Relationship Type="http://schemas.openxmlformats.org/officeDocument/2006/relationships/notesSlide" Target="/ppt/notesSlides/notesSlide8.xml" Id="R4e070c7796674e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629a9702147ac" /><Relationship Type="http://schemas.openxmlformats.org/officeDocument/2006/relationships/image" Target="/ppt/media/image6.png" Id="Rd76504000d0145ef" /><Relationship Type="http://schemas.openxmlformats.org/officeDocument/2006/relationships/notesSlide" Target="/ppt/notesSlides/notesSlide9.xml" Id="Rd6b96cc085254f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3be4f47f14c68" /><Relationship Type="http://schemas.openxmlformats.org/officeDocument/2006/relationships/notesSlide" Target="/ppt/notesSlides/notesSlide10.xml" Id="R13f675e539854c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C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17510-2005-4E1F-A5AC-7F2C1C9A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836EE-8CB3-4663-8494-1C5A9945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 spc="2">
                <a:solidFill>
                  <a:srgbClr val="FFE500"/>
                </a:solidFill>
              </a:defRPr>
            </a:pPr>
            <a:r>
              <a:rPr sz="1125" b="1" spc="2">
                <a:solidFill>
                  <a:srgbClr val="FFE500"/>
                </a:solidFill>
              </a:rPr>
              <a:t>AION → IBM ODM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4C751-9842-4E05-971B-C0FDE4B5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742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Flights migration</a:t>
            </a:r>
          </a:p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implementation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21F49-8B66-433C-B2ED-F13DC010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C7D7E3"/>
                </a:solidFill>
              </a:defRPr>
            </a:pPr>
            <a:r>
              <a:rPr sz="1800">
                <a:solidFill>
                  <a:srgbClr val="C7D7E3"/>
                </a:solidFill>
              </a:rPr>
              <a:t>Rule Designer, Rule Execution Server and live REST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EDD4F-B276-468B-8C3F-FA09EEC5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89C53-0000-4D82-B484-5B810FA1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The migrated decision service is implemented, deployed and returning the expected shortest route.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1B35F-5939-4D14-868E-DAD5470C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67495-A7CD-4BCE-AB63-C34F7D2D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14573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23A3A-2FE1-4CD2-B55B-317C0828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374AD-863D-4C6A-9AA2-598F9C3F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400300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SFO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A1C6A-BCBB-49BC-9AD1-F234E875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769A8-3B93-404E-B1C1-4CBF9296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00300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CHI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82457-DA97-4993-B34A-270D43FB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4AEF7-6669-4A43-8B40-8C1E76D6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400300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NYC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3BF0F-C81F-4671-ADAA-FC2F5DB8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765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2,982 miles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6B39F-C39E-463A-BC9C-0942849A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314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C7D7E3"/>
                </a:solidFill>
              </a:defRPr>
            </a:pPr>
            <a:r>
              <a:rPr sz="1275">
                <a:solidFill>
                  <a:srgbClr val="C7D7E3"/>
                </a:solidFill>
              </a:rPr>
              <a:t>live shortest-route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5173F-171F-408E-8595-5075427D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FC3D1"/>
                </a:solidFill>
              </a:defRPr>
            </a:pPr>
            <a:r>
              <a:rPr sz="975">
                <a:solidFill>
                  <a:srgbClr val="AFC3D1"/>
                </a:solidFill>
              </a:rPr>
              <a:t>AUHN migration proof point  •  August 2026</a:t>
            </a:r>
          </a:p>
        </p:txBody>
      </p:sp>
    </p:spTree>
    <p:extLst>
      <p:ext uri="{BB962C8B-B14F-4D97-AF65-F5344CB8AC3E}">
        <p14:creationId xmlns:p14="http://schemas.microsoft.com/office/powerpoint/2010/main" val="19092598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D9A847-EF71-4666-8789-17536897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7576B-F7CA-41B6-9047-68B4C2E4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spc="1">
                <a:solidFill>
                  <a:srgbClr val="17627F"/>
                </a:solidFill>
              </a:defRPr>
            </a:pPr>
            <a:r>
              <a:rPr sz="975" b="1" spc="1">
                <a:solidFill>
                  <a:srgbClr val="17627F"/>
                </a:solidFill>
              </a:rPr>
              <a:t>MIGRATION APPROACH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31D786DA-5C49-45EE-AECA-D980CD5A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B5E"/>
                </a:solidFill>
              </a:defRPr>
            </a:pPr>
            <a:r>
              <a:rPr sz="2625" b="1">
                <a:solidFill>
                  <a:srgbClr val="173B5E"/>
                </a:solidFill>
              </a:rPr>
              <a:t>The Flights migration follows a repeatable Aion-to-ODM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7206A-7A53-40D3-AC4E-F8B289B6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C6872"/>
                </a:solidFill>
              </a:defRPr>
            </a:pPr>
            <a:r>
              <a:rPr sz="900" b="1">
                <a:solidFill>
                  <a:srgbClr val="5C6872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85B8C-204B-4B49-8E6E-68F3D448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2505075" cy="3028950"/>
          </a:xfrm>
          <a:prstGeom xmlns:a="http://schemas.openxmlformats.org/drawingml/2006/main" prst="roundRect">
            <a:avLst>
              <a:gd name="adj" fmla="val 4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217c2896d49de"/>
          <a:stretch xmlns:a="http://schemas.openxmlformats.org/drawingml/2006/main"/>
        </p:blipFill>
        <p:spPr>
          <a:xfrm xmlns:a="http://schemas.openxmlformats.org/drawingml/2006/main">
            <a:off x="666750" y="1453149"/>
            <a:ext cx="2428875" cy="2751552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81FF9-D7D0-4E33-A4C4-87D50435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B5E"/>
                </a:solidFill>
              </a:defRPr>
            </a:pPr>
            <a:r>
              <a:rPr sz="1650" b="1">
                <a:solidFill>
                  <a:srgbClr val="173B5E"/>
                </a:solidFill>
              </a:rPr>
              <a:t>Legacy 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DF64A-D10A-4176-8D27-768670F4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C6872"/>
                </a:solidFill>
              </a:defRPr>
            </a:pPr>
            <a:r>
              <a:rPr sz="1275">
                <a:solidFill>
                  <a:srgbClr val="5C6872"/>
                </a:solidFill>
              </a:rPr>
              <a:t>Route search, shortest-route selection and all-routes mode become the behavioral baseline.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3009F-47A3-46F1-95B7-5D1292E3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383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F4525-8C8E-4935-BDA0-C3FAD7E5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38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0B5CC-138C-4840-8050-F6AB0D50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9240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C2D1D-567E-4D93-BDD3-5E5B0EF1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9555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B5E"/>
                </a:solidFill>
              </a:defRPr>
            </a:pPr>
            <a:r>
              <a:rPr sz="1425" b="1">
                <a:solidFill>
                  <a:srgbClr val="173B5E"/>
                </a:solidFill>
              </a:rPr>
              <a:t>Analyze Aion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3C9D0-F904-47B9-9CDF-5AEAC56A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133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C6872"/>
                </a:solidFill>
              </a:defRPr>
            </a:pPr>
            <a:r>
              <a:rPr sz="1200">
                <a:solidFill>
                  <a:srgbClr val="5C6872"/>
                </a:solidFill>
              </a:rPr>
              <a:t>Capture inputs, outputs and source behavior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44266-C0A6-4676-83AD-8E263EEC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38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F2756-1D4E-461A-9061-8F693DEF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240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0037D-278E-4A69-8C90-FC1FC11D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9555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B5E"/>
                </a:solidFill>
              </a:defRPr>
            </a:pPr>
            <a:r>
              <a:rPr sz="1425" b="1">
                <a:solidFill>
                  <a:srgbClr val="173B5E"/>
                </a:solidFill>
              </a:rPr>
              <a:t>Build XOM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E1FDF-814A-4AFE-B88D-2EAA41D4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86100"/>
            <a:ext cx="133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C6872"/>
                </a:solidFill>
              </a:defRPr>
            </a:pPr>
            <a:r>
              <a:rPr sz="1200">
                <a:solidFill>
                  <a:srgbClr val="5C6872"/>
                </a:solidFill>
              </a:rPr>
              <a:t>FlightRequest, Flight, Node and response classes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1DAB4-81A5-47BF-AE32-814FC0E7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838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62A8D-0D17-4228-8D86-4674CCA9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9240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43BA1-A2A5-438B-912E-D1C22AD2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B5E"/>
                </a:solidFill>
              </a:defRPr>
            </a:pPr>
            <a:r>
              <a:rPr sz="1425" b="1">
                <a:solidFill>
                  <a:srgbClr val="173B5E"/>
                </a:solidFill>
              </a:rPr>
              <a:t>Expose BOM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35E0B-FA61-4E09-83CB-62F4A49D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133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C6872"/>
                </a:solidFill>
              </a:defRPr>
            </a:pPr>
            <a:r>
              <a:rPr sz="1200">
                <a:solidFill>
                  <a:srgbClr val="5C6872"/>
                </a:solidFill>
              </a:rPr>
              <a:t>Business vocabulary and helper 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F51B0-02E3-4615-8044-2DADE89D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38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3CE15-5460-4144-94E9-B54661E3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80F8C-97BB-4704-BA36-EFCAF2E5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49555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B5E"/>
                </a:solidFill>
              </a:defRPr>
            </a:pPr>
            <a:r>
              <a:rPr sz="1425" b="1">
                <a:solidFill>
                  <a:srgbClr val="173B5E"/>
                </a:solidFill>
              </a:rPr>
              <a:t>Convert rules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FEEFF3-5C7F-4B71-9604-2FCBA3F3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86100"/>
            <a:ext cx="133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C6872"/>
                </a:solidFill>
              </a:defRPr>
            </a:pPr>
            <a:r>
              <a:rPr sz="1200">
                <a:solidFill>
                  <a:srgbClr val="5C6872"/>
                </a:solidFill>
              </a:rPr>
              <a:t>14 reviewable ODM action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0F5B5A-97DD-4A3C-A71A-46BB84C0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838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06C8EE-9C46-436D-A5DD-1CDAAEC8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9240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07CC56-1BC5-4FE5-AE50-70FA740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9555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B5E"/>
                </a:solidFill>
              </a:defRPr>
            </a:pPr>
            <a:r>
              <a:rPr sz="1425" b="1">
                <a:solidFill>
                  <a:srgbClr val="173B5E"/>
                </a:solidFill>
              </a:rPr>
              <a:t>Rebuild inference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33D911-1A27-4190-8038-C37EB227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133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C6872"/>
                </a:solidFill>
              </a:defRPr>
            </a:pPr>
            <a:r>
              <a:rPr sz="1200">
                <a:solidFill>
                  <a:srgbClr val="5C6872"/>
                </a:solidFill>
              </a:rPr>
              <a:t>Ruleflow plus RetePlus search tasks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80ED84-2442-4803-B5EF-4E48E88F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838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9C410F-3A55-4703-9678-0BB9C323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19240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75DA4E-9B0E-4949-A7D2-F9FE55CF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9555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B5E"/>
                </a:solidFill>
              </a:defRPr>
            </a:pPr>
            <a:r>
              <a:rPr sz="1425" b="1">
                <a:solidFill>
                  <a:srgbClr val="173B5E"/>
                </a:solidFill>
              </a:rPr>
              <a:t>Deploy &amp; test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D3BCB8-C54E-4D2B-B9CB-E2315C79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86100"/>
            <a:ext cx="133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C6872"/>
                </a:solidFill>
              </a:defRPr>
            </a:pPr>
            <a:r>
              <a:rPr sz="1200">
                <a:solidFill>
                  <a:srgbClr val="5C6872"/>
                </a:solidFill>
              </a:rPr>
              <a:t>Ruleset in RES with live REST verification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97222-5C20-4AB4-AD58-0B426BC0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29150"/>
            <a:ext cx="7810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F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443B70-F9DE-47ED-AE79-31D13A6B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819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627F"/>
                </a:solidFill>
              </a:defRPr>
            </a:pPr>
            <a:r>
              <a:rPr sz="1350" b="1">
                <a:solidFill>
                  <a:srgbClr val="17627F"/>
                </a:solidFill>
              </a:rPr>
              <a:t>Migration principle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36AEC6-961E-4B1D-B7CB-CC27F1AE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16255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3B5E"/>
                </a:solidFill>
              </a:defRPr>
            </a:pPr>
            <a:r>
              <a:rPr sz="1650" b="1">
                <a:solidFill>
                  <a:srgbClr val="173B5E"/>
                </a:solidFill>
              </a:rPr>
              <a:t>Preserve the Aion decision behavior while expressing data, vocabulary, inference and deployment in native ODM artifacts.</a:t>
            </a:r>
          </a:p>
        </p:txBody>
      </p:sp>
    </p:spTree>
    <p:extLst>
      <p:ext uri="{BB962C8B-B14F-4D97-AF65-F5344CB8AC3E}">
        <p14:creationId xmlns:p14="http://schemas.microsoft.com/office/powerpoint/2010/main" val="1971571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172D80-6D2A-44B6-B163-41E085D8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E1976-0DDF-4CB4-97FD-75C5B1C6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spc="1">
                <a:solidFill>
                  <a:srgbClr val="17627F"/>
                </a:solidFill>
              </a:defRPr>
            </a:pPr>
            <a:r>
              <a:rPr sz="975" b="1" spc="1">
                <a:solidFill>
                  <a:srgbClr val="17627F"/>
                </a:solidFill>
              </a:rPr>
              <a:t>PLAN-READY DELIVERABLES — DEFINITION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05EA9FE-B529-4E35-9B30-150273B7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B5E"/>
                </a:solidFill>
              </a:defRPr>
            </a:pPr>
            <a:r>
              <a:rPr sz="2625" b="1">
                <a:solidFill>
                  <a:srgbClr val="173B5E"/>
                </a:solidFill>
              </a:rPr>
              <a:t>Definition deliverables establish an approved migration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16F53-27A0-4D74-BD1F-C9E358F9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C6872"/>
                </a:solidFill>
              </a:defRPr>
            </a:pPr>
            <a:r>
              <a:rPr sz="900" b="1">
                <a:solidFill>
                  <a:srgbClr val="5C6872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7FF4B-EB6F-47F2-ACC7-F3BAB716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83D59-38C5-4692-A50B-BA0A5AFC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01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PROJECT PHASE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CD9FB-16F0-467B-AEA1-2EE06262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95400"/>
            <a:ext cx="542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838F0-1A6C-4769-A69B-CB4FB105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00175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REQUIRED DELIVERABLES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304DE-CF54-4C10-85A5-FF4756CC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954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F37E1-3921-47D2-8330-20809D2A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00175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COMPLETION / ACCEPTANCE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B0208-5063-427E-B988-36D126BE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690E7-A420-47EE-BCF1-0BE213A2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55313-D871-4874-8056-6F30601F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85135-C6DA-437E-B1F3-F964783F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DBCBF-874A-4F48-8E00-8E3E1638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3B5E"/>
                </a:solidFill>
              </a:defRPr>
            </a:pPr>
            <a:r>
              <a:rPr sz="1275" b="1">
                <a:solidFill>
                  <a:srgbClr val="173B5E"/>
                </a:solidFill>
              </a:rPr>
              <a:t>1  Inventory &amp; source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2C4E2-4B6E-46D0-92B2-C587093B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383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72E"/>
                </a:solidFill>
              </a:defRPr>
            </a:pPr>
            <a:r>
              <a:rPr sz="1200">
                <a:solidFill>
                  <a:srgbClr val="20272E"/>
                </a:solidFill>
              </a:rPr>
              <a:t>Approved Aion KB Inventory; complexity assessment; scope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596DA-55CE-4205-9DF1-DE0DE416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383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3B5E"/>
                </a:solidFill>
              </a:defRPr>
            </a:pPr>
            <a:r>
              <a:rPr sz="1200" b="1">
                <a:solidFill>
                  <a:srgbClr val="173B5E"/>
                </a:solidFill>
              </a:rPr>
              <a:t>Inventory reconciled and scope approved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7FCD5-F05B-4249-A25B-4BD3A2EA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08359-E24E-4E3E-8EA0-D24EB38D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854C1-8B09-4AC0-8EEE-543C85AC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9E543-6A5A-4790-A17C-63BC1F90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340C6-F9E8-418D-93F0-415FE6E5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3B5E"/>
                </a:solidFill>
              </a:defRPr>
            </a:pPr>
            <a:r>
              <a:rPr sz="1275" b="1">
                <a:solidFill>
                  <a:srgbClr val="173B5E"/>
                </a:solidFill>
              </a:rPr>
              <a:t>2  Business workshops &amp; source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B353E-85C8-4156-9557-AD100236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146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72E"/>
                </a:solidFill>
              </a:defRPr>
            </a:pPr>
            <a:r>
              <a:rPr sz="1200">
                <a:solidFill>
                  <a:srgbClr val="20272E"/>
                </a:solidFill>
              </a:rPr>
              <a:t>Signed Business Behavior Catalogue; golden input/output scenarios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CEBD2-C8D3-4977-B351-AB2FFB78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146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3B5E"/>
                </a:solidFill>
              </a:defRPr>
            </a:pPr>
            <a:r>
              <a:rPr sz="1200" b="1">
                <a:solidFill>
                  <a:srgbClr val="173B5E"/>
                </a:solidFill>
              </a:rPr>
              <a:t>Business SME validates expected behavior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3B567B-41F3-4D70-9100-EC853FF2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0CE95-62A9-42CD-A58B-EC91F6AF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C4C572-21B3-499C-94D8-4AF68AA9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9A624C-1E5B-4762-BCBF-A9993EB5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DCE591-D345-48C0-9866-04A6CED2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3B5E"/>
                </a:solidFill>
              </a:defRPr>
            </a:pPr>
            <a:r>
              <a:rPr sz="1275" b="1">
                <a:solidFill>
                  <a:srgbClr val="173B5E"/>
                </a:solidFill>
              </a:rPr>
              <a:t>3  Decision modeling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DCE2EF-6945-4271-A8BC-C3CE959D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909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72E"/>
                </a:solidFill>
              </a:defRPr>
            </a:pPr>
            <a:r>
              <a:rPr sz="1200">
                <a:solidFill>
                  <a:srgbClr val="20272E"/>
                </a:solidFill>
              </a:rPr>
              <a:t>Signed Decision Model; rule taxonomy; decision requirements and dependencies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D2F9C6-A4EA-4EF1-AEEC-FA1589C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909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3B5E"/>
                </a:solidFill>
              </a:defRPr>
            </a:pPr>
            <a:r>
              <a:rPr sz="1200" b="1">
                <a:solidFill>
                  <a:srgbClr val="173B5E"/>
                </a:solidFill>
              </a:rPr>
              <a:t>Business and architecture sign-off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A36044-F4B9-495F-A626-FADEA0DA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EC194B-1560-498B-A37F-9A638876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434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8D7858-6C8A-4745-B5AE-69AD877A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054B83-0C5E-4E56-BE32-660928B2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72B55A-2017-4EBE-BBD4-8DA81059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3B5E"/>
                </a:solidFill>
              </a:defRPr>
            </a:pPr>
            <a:r>
              <a:rPr sz="1275" b="1">
                <a:solidFill>
                  <a:srgbClr val="173B5E"/>
                </a:solidFill>
              </a:rPr>
              <a:t>4  Inference &amp; execution reconstruction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3ADDA1-FAA4-4216-9A44-4C59CC1E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672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72E"/>
                </a:solidFill>
              </a:defRPr>
            </a:pPr>
            <a:r>
              <a:rPr sz="1200">
                <a:solidFill>
                  <a:srgbClr val="20272E"/>
                </a:solidFill>
              </a:rPr>
              <a:t>Inference Semantics Specification; ODM execution-mode mapping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AD37E5-C3DD-4A04-8799-DBEE2BB0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672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3B5E"/>
                </a:solidFill>
              </a:defRPr>
            </a:pPr>
            <a:r>
              <a:rPr sz="1200" b="1">
                <a:solidFill>
                  <a:srgbClr val="173B5E"/>
                </a:solidFill>
              </a:rPr>
              <a:t>All Aion inference behaviors mapped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067512-39CA-4BC3-94B6-85BC9B9D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48DE04-A966-46DA-B186-ECB2A005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0761B8-C48E-43C5-BE55-8F9D4844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F426D6-D770-4E9E-A0E1-3CD894B9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90570A-3BF2-40F6-9F83-2C0DC5DE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3B5E"/>
                </a:solidFill>
              </a:defRPr>
            </a:pPr>
            <a:r>
              <a:rPr sz="1275" b="1">
                <a:solidFill>
                  <a:srgbClr val="173B5E"/>
                </a:solidFill>
              </a:rPr>
              <a:t>5  Architecture, ruleflow &amp; subflows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454637-3B85-4F95-ADD7-AEDB10B6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435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72E"/>
                </a:solidFill>
              </a:defRPr>
            </a:pPr>
            <a:r>
              <a:rPr sz="1200">
                <a:solidFill>
                  <a:srgbClr val="20272E"/>
                </a:solidFill>
              </a:rPr>
              <a:t>Approved ODM Solution Design; ruleflow/subflow diagrams; interface specification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1CFF0B-BBF5-4015-8FC6-B8D828CA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435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3B5E"/>
                </a:solidFill>
              </a:defRPr>
            </a:pPr>
            <a:r>
              <a:rPr sz="1200" b="1">
                <a:solidFill>
                  <a:srgbClr val="173B5E"/>
                </a:solidFill>
              </a:rPr>
              <a:t>Architecture review approved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A13588-D379-4BCE-905E-8B3650E3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627F"/>
                </a:solidFill>
              </a:defRPr>
            </a:pPr>
            <a:r>
              <a:rPr sz="1200" b="1">
                <a:solidFill>
                  <a:srgbClr val="17627F"/>
                </a:solidFill>
              </a:rPr>
              <a:t>Each gate is a schedulable milestone: the phase is complete only when its named deliverables are reviewed and accepted.</a:t>
            </a:r>
          </a:p>
        </p:txBody>
      </p:sp>
    </p:spTree>
    <p:extLst>
      <p:ext uri="{BB962C8B-B14F-4D97-AF65-F5344CB8AC3E}">
        <p14:creationId xmlns:p14="http://schemas.microsoft.com/office/powerpoint/2010/main" val="15623743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AE5100-4EF0-4A39-96E9-80CA00B5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A0E3E-3296-4285-A8AD-E761DBB2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spc="1">
                <a:solidFill>
                  <a:srgbClr val="17627F"/>
                </a:solidFill>
              </a:defRPr>
            </a:pPr>
            <a:r>
              <a:rPr sz="975" b="1" spc="1">
                <a:solidFill>
                  <a:srgbClr val="17627F"/>
                </a:solidFill>
              </a:rPr>
              <a:t>DELIVERY WORK PRODUCTS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95B98B2-481D-4C50-A826-25ED48B3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B5E"/>
                </a:solidFill>
              </a:defRPr>
            </a:pPr>
            <a:r>
              <a:rPr sz="2625" b="1">
                <a:solidFill>
                  <a:srgbClr val="173B5E"/>
                </a:solidFill>
              </a:rPr>
              <a:t>Build deliverables make completion and acceptance measurable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EA7EE-A683-4206-89DD-B03A8ED0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C6872"/>
                </a:solidFill>
              </a:defRPr>
            </a:pPr>
            <a:r>
              <a:rPr sz="900" b="1">
                <a:solidFill>
                  <a:srgbClr val="5C6872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F9F26-39BF-4CA1-AC90-7B9C0D20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57AF5-24BE-451A-84E0-AEAAB23A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01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PROJECT PHASE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C7E12-F497-4D6B-9EEA-DE128258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95400"/>
            <a:ext cx="542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F57D5-12BD-4617-80DE-2085875E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00175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REQUIRED DELIVERABLES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28447-1CA8-433D-80B2-AEF157C4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954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9D475-3E5D-4FF4-9B1E-04683931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00175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COMPLETION / ACCEPTANCE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DD3BF-8175-4729-AC60-209C742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20434-A2F5-4EC6-9AD2-A9E60D77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542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9BA8A-52F6-4002-8331-CC048360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A19A0-ABED-4475-A944-62D531F8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F6EA7-B3FF-419C-B68C-42BE30B1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3B5E"/>
                </a:solidFill>
              </a:defRPr>
            </a:pPr>
            <a:r>
              <a:rPr sz="1275" b="1">
                <a:solidFill>
                  <a:srgbClr val="173B5E"/>
                </a:solidFill>
              </a:rPr>
              <a:t>6  XOM, BOM, vocabulary &amp; helpers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1790D-6059-4AD4-9834-B5A5A6CD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383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72E"/>
                </a:solidFill>
              </a:defRPr>
            </a:pPr>
            <a:r>
              <a:rPr sz="1200">
                <a:solidFill>
                  <a:srgbClr val="20272E"/>
                </a:solidFill>
              </a:rPr>
              <a:t>Compilable XOM; reviewed BOM vocabulary; helper API catalogue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4AF02-6783-4C73-B2E2-48E71CC0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383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3B5E"/>
                </a:solidFill>
              </a:defRPr>
            </a:pPr>
            <a:r>
              <a:rPr sz="1200" b="1">
                <a:solidFill>
                  <a:srgbClr val="173B5E"/>
                </a:solidFill>
              </a:rPr>
              <a:t>Build clean and vocabulary accepted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9B561-5FFB-441F-AD00-CE100B07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A26F8-3FD2-4DDC-8E6A-3F6697C8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542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9CCDC-431B-43FB-A626-E0D6D7BE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06914-FB91-48C1-997D-75486F7D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95743-11F8-43D6-9F7B-A37A651C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3B5E"/>
                </a:solidFill>
              </a:defRPr>
            </a:pPr>
            <a:r>
              <a:rPr sz="1275" b="1">
                <a:solidFill>
                  <a:srgbClr val="173B5E"/>
                </a:solidFill>
              </a:rPr>
              <a:t>7  Rules, RETE tasks &amp; orchestration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0D822-D1B9-47D8-AC29-239105CF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003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72E"/>
                </a:solidFill>
              </a:defRPr>
            </a:pPr>
            <a:r>
              <a:rPr sz="1200">
                <a:solidFill>
                  <a:srgbClr val="20272E"/>
                </a:solidFill>
              </a:rPr>
              <a:t>Versioned ODM Rule Project Archive; task configuration; peer-review record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287362-ED70-4B04-A617-A507EB82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003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3B5E"/>
                </a:solidFill>
              </a:defRPr>
            </a:pPr>
            <a:r>
              <a:rPr sz="1200" b="1">
                <a:solidFill>
                  <a:srgbClr val="173B5E"/>
                </a:solidFill>
              </a:rPr>
              <a:t>Ruleset builds and technical review completes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273A2-C87B-41B4-A03B-7B221132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C49BCA-A61D-449B-8F3E-F1109D1C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542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B78239-1730-42AC-986C-ACB8773D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F25924-3A51-443E-B5CE-8A7C3895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6B84EE-07C5-4E3A-B824-C425E798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3B5E"/>
                </a:solidFill>
              </a:defRPr>
            </a:pPr>
            <a:r>
              <a:rPr sz="1275" b="1">
                <a:solidFill>
                  <a:srgbClr val="173B5E"/>
                </a:solidFill>
              </a:rPr>
              <a:t>8  Traceability, governance &amp;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B8F8C9-A448-4657-A2AE-3DF13056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623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72E"/>
                </a:solidFill>
              </a:defRPr>
            </a:pPr>
            <a:r>
              <a:rPr sz="1200">
                <a:solidFill>
                  <a:srgbClr val="20272E"/>
                </a:solidFill>
              </a:rPr>
              <a:t>Aion-to-ODM traceability matrix; exception log; governance checklist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080D67-A0CD-4547-8D13-675FC877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623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3B5E"/>
                </a:solidFill>
              </a:defRPr>
            </a:pPr>
            <a:r>
              <a:rPr sz="1200" b="1">
                <a:solidFill>
                  <a:srgbClr val="173B5E"/>
                </a:solidFill>
              </a:rPr>
              <a:t>100% source objects mapped or dispositioned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06FA4B-D88F-4076-9B6B-31B496BD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A6E22E-4809-408F-85C9-EE991A86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542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38B7FC-3A7F-4B29-9316-D80353B6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3D7CE0-D4A4-4AA1-B4C0-F48F0A9B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0B1CE1-6D6F-4972-BDE0-78F6357B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3B5E"/>
                </a:solidFill>
              </a:defRPr>
            </a:pPr>
            <a:r>
              <a:rPr sz="1275" b="1">
                <a:solidFill>
                  <a:srgbClr val="173B5E"/>
                </a:solidFill>
              </a:rPr>
              <a:t>9  Decision operation &amp; deployment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A52A3E-FA12-4A94-BB39-7BD5B5B5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243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72E"/>
                </a:solidFill>
              </a:defRPr>
            </a:pPr>
            <a:r>
              <a:rPr sz="1200">
                <a:solidFill>
                  <a:srgbClr val="20272E"/>
                </a:solidFill>
              </a:rPr>
              <a:t>Decision operation; RuleApp/ruleset archive; configuration and deployment record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C24AD4-70C5-4021-BFA4-97F3EE4E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243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3B5E"/>
                </a:solidFill>
              </a:defRPr>
            </a:pPr>
            <a:r>
              <a:rPr sz="1200" b="1">
                <a:solidFill>
                  <a:srgbClr val="173B5E"/>
                </a:solidFill>
              </a:rPr>
              <a:t>Deployed and endpoint health check passed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20F787-7B4C-48E0-B15A-CC5C4055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65BD68-253B-4FBE-A7DF-0AF267F2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542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4EB458-F82E-47C2-A528-33254D26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39CBEA-29EF-4423-AF26-507E7CF6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F79A13-F1D3-43DB-B13A-E209BF80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3B5E"/>
                </a:solidFill>
              </a:defRPr>
            </a:pPr>
            <a:r>
              <a:rPr sz="1275" b="1">
                <a:solidFill>
                  <a:srgbClr val="173B5E"/>
                </a:solidFill>
              </a:rPr>
              <a:t>10  Testing &amp; acceptance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2DEEE1-A026-41AC-A0D3-A39C7A8C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863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72E"/>
                </a:solidFill>
              </a:defRPr>
            </a:pPr>
            <a:r>
              <a:rPr sz="1200">
                <a:solidFill>
                  <a:srgbClr val="20272E"/>
                </a:solidFill>
              </a:rPr>
              <a:t>Regression, negative-path and performance pack; evidence; defect closure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0B8664-AB0F-42A6-879B-3052B2B2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863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3B5E"/>
                </a:solidFill>
              </a:defRPr>
            </a:pPr>
            <a:r>
              <a:rPr sz="1200" b="1">
                <a:solidFill>
                  <a:srgbClr val="173B5E"/>
                </a:solidFill>
              </a:rPr>
              <a:t>Pass thresholds met and UAT signed off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C5FD71-7F4B-4E54-9F2B-865D1E6C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206544-8CB6-4240-B05A-5B2E4ED8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42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835D49-CA78-43C2-809C-E8B0050A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97B833-F38D-47B1-92EE-C3A7C497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F0EF34-25B1-45DC-9B37-369A7A2A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3B5E"/>
                </a:solidFill>
              </a:defRPr>
            </a:pPr>
            <a:r>
              <a:rPr sz="1275" b="1">
                <a:solidFill>
                  <a:srgbClr val="173B5E"/>
                </a:solidFill>
              </a:rPr>
              <a:t>11  Documentation, KT &amp; contingency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5CD192-48BF-432D-AC53-06A1AFE5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483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72E"/>
                </a:solidFill>
              </a:defRPr>
            </a:pPr>
            <a:r>
              <a:rPr sz="1200">
                <a:solidFill>
                  <a:srgbClr val="20272E"/>
                </a:solidFill>
              </a:rPr>
              <a:t>Runbook; support model; training; RAID/change log; final estimate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868ADD-50C9-402C-9CAD-D1F904AE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6483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3B5E"/>
                </a:solidFill>
              </a:defRPr>
            </a:pPr>
            <a:r>
              <a:rPr sz="1200" b="1">
                <a:solidFill>
                  <a:srgbClr val="173B5E"/>
                </a:solidFill>
              </a:rPr>
              <a:t>Ownership accepted and open items baselined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C37EE3-AAA7-4BF4-BFF4-8416C3BF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431309-3B51-4697-AFE1-BF56D8D8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3B5E"/>
                </a:solidFill>
              </a:defRPr>
            </a:pPr>
            <a:r>
              <a:rPr sz="1200" b="1">
                <a:solidFill>
                  <a:srgbClr val="173B5E"/>
                </a:solidFill>
              </a:rPr>
              <a:t>Planning use: assign an owner, planned date, reviewer and status to every deliverable—not only to the activity that produces it.</a:t>
            </a:r>
          </a:p>
        </p:txBody>
      </p:sp>
    </p:spTree>
    <p:extLst>
      <p:ext uri="{BB962C8B-B14F-4D97-AF65-F5344CB8AC3E}">
        <p14:creationId xmlns:p14="http://schemas.microsoft.com/office/powerpoint/2010/main" val="12061995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CD73FE-73FB-4508-9852-2341D624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1B6A8-4EA4-4B2B-A13D-FA6F2968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spc="1">
                <a:solidFill>
                  <a:srgbClr val="17627F"/>
                </a:solidFill>
              </a:defRPr>
            </a:pPr>
            <a:r>
              <a:rPr sz="975" b="1" spc="1">
                <a:solidFill>
                  <a:srgbClr val="17627F"/>
                </a:solidFill>
              </a:rPr>
              <a:t>IMPLEMENTATION EVIDENCE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A014E5A-A724-4A53-B75E-D3E4A6B5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B5E"/>
                </a:solidFill>
              </a:defRPr>
            </a:pPr>
            <a:r>
              <a:rPr sz="2625" b="1">
                <a:solidFill>
                  <a:srgbClr val="173B5E"/>
                </a:solidFill>
              </a:rPr>
              <a:t>Rule Designer makes the migrated Flights logic reviewable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82086-6AB2-473D-8B6E-694E4DEB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C6872"/>
                </a:solidFill>
              </a:defRPr>
            </a:pPr>
            <a:r>
              <a:rPr sz="900" b="1">
                <a:solidFill>
                  <a:srgbClr val="5C6872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DBB2A-C65B-496F-AA1B-C21A4964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4171950" cy="49911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88eaf6fc645b1"/>
          <a:stretch xmlns:a="http://schemas.openxmlformats.org/drawingml/2006/main"/>
        </p:blipFill>
        <p:spPr>
          <a:xfrm xmlns:a="http://schemas.openxmlformats.org/drawingml/2006/main">
            <a:off x="668655" y="1352550"/>
            <a:ext cx="4091940" cy="491490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3B722-AD5C-4E98-AAEB-6F618F0E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240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17627F"/>
                </a:solidFill>
              </a:defRPr>
            </a:pPr>
            <a:r>
              <a:rPr sz="4500" b="1">
                <a:solidFill>
                  <a:srgbClr val="17627F"/>
                </a:solidFill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D06FD-23EB-414B-89A5-D3BC79F7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B5E"/>
                </a:solidFill>
              </a:defRPr>
            </a:pPr>
            <a:r>
              <a:rPr sz="1950" b="1">
                <a:solidFill>
                  <a:srgbClr val="173B5E"/>
                </a:solidFill>
              </a:rPr>
              <a:t>action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E4349-1F67-435C-90F8-510AA22F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6220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B23CB-C35A-48F1-80C3-CEBAAF0E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765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FA805-CD2D-4B1F-BD82-44D544DB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6765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15AFE-1FAB-4FD5-8823-F0AF6D88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667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B5E"/>
                </a:solidFill>
              </a:defRPr>
            </a:pPr>
            <a:r>
              <a:rPr sz="1500" b="1">
                <a:solidFill>
                  <a:srgbClr val="173B5E"/>
                </a:solidFill>
              </a:rPr>
              <a:t>FindFlightRoutes ruleflow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C6119-862F-4257-A237-8836FEB1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09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C6872"/>
                </a:solidFill>
              </a:defRPr>
            </a:pPr>
            <a:r>
              <a:rPr sz="1275">
                <a:solidFill>
                  <a:srgbClr val="5C6872"/>
                </a:solidFill>
              </a:rPr>
              <a:t>Controls initialization, inference, route recording and response population.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2387D-EA93-4ED0-B84E-45D3BAEB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242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78509-7D37-4AE0-8B33-18B55A86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7242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39A41-CEF5-4A00-A8E9-4ABAB4CE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714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B5E"/>
                </a:solidFill>
              </a:defRPr>
            </a:pPr>
            <a:r>
              <a:rPr sz="1500" b="1">
                <a:solidFill>
                  <a:srgbClr val="173B5E"/>
                </a:solidFill>
              </a:rPr>
              <a:t>Flight variable 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C5502-C65A-4BC6-B0A5-C75CEF1B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576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C6872"/>
                </a:solidFill>
              </a:defRPr>
            </a:pPr>
            <a:r>
              <a:rPr sz="1275">
                <a:solidFill>
                  <a:srgbClr val="5C6872"/>
                </a:solidFill>
              </a:rPr>
              <a:t>Request, response, travel context, candidates and selected expansion node.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488B7-5F51-43D1-9143-815089E7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720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009AE-8F0E-428A-A0EB-877DC069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7720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24059-78B4-4ADB-BFD5-163193F7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762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B5E"/>
                </a:solidFill>
              </a:defRPr>
            </a:pPr>
            <a:r>
              <a:rPr sz="1500" b="1">
                <a:solidFill>
                  <a:srgbClr val="173B5E"/>
                </a:solidFill>
              </a:rPr>
              <a:t>BOM vocabulary + helper methods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AE201-CFBA-41DC-8AFC-3E37FD1B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1054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C6872"/>
                </a:solidFill>
              </a:defRPr>
            </a:pPr>
            <a:r>
              <a:rPr sz="1275">
                <a:solidFill>
                  <a:srgbClr val="5C6872"/>
                </a:solidFill>
              </a:rPr>
              <a:t>Business-facing rule language stays readable; Java helpers manage object and list operations.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278121-38A2-430A-9BEC-EBE473E6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772150"/>
            <a:ext cx="561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8607A-C941-484F-B2B6-6FCFA27B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9055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B5E"/>
                </a:solidFill>
              </a:defRPr>
            </a:pPr>
            <a:r>
              <a:rPr sz="1500" b="1">
                <a:solidFill>
                  <a:srgbClr val="173B5E"/>
                </a:solidFill>
              </a:rPr>
              <a:t>Result: traceable business logic instead of a black-box rewrite.</a:t>
            </a:r>
          </a:p>
        </p:txBody>
      </p:sp>
    </p:spTree>
    <p:extLst>
      <p:ext uri="{BB962C8B-B14F-4D97-AF65-F5344CB8AC3E}">
        <p14:creationId xmlns:p14="http://schemas.microsoft.com/office/powerpoint/2010/main" val="791630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7D5A8-98E7-4E73-8864-EEF684B8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1AAAA-B746-465E-B5A1-AD323992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spc="1">
                <a:solidFill>
                  <a:srgbClr val="17627F"/>
                </a:solidFill>
              </a:defRPr>
            </a:pPr>
            <a:r>
              <a:rPr sz="975" b="1" spc="1">
                <a:solidFill>
                  <a:srgbClr val="17627F"/>
                </a:solidFill>
              </a:rPr>
              <a:t>INFERENCE AND ORCHESTRATION</a:t>
            </a:r>
          </a:p>
        </p:txBody>
      </p:sp>
      <p:sp>
        <p:nvSpPr>
          <p:cNvPr id="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64BDC953-9C1A-474F-98F7-E8607546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B5E"/>
                </a:solidFill>
              </a:defRPr>
            </a:pPr>
            <a:r>
              <a:rPr sz="2625" b="1">
                <a:solidFill>
                  <a:srgbClr val="173B5E"/>
                </a:solidFill>
              </a:rPr>
              <a:t>The ruleflow reconstructs Aion’s inference loop in ODM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3AE83-1242-4A31-ABA7-EA481B40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C6872"/>
                </a:solidFill>
              </a:defRPr>
            </a:pPr>
            <a:r>
              <a:rPr sz="900" b="1">
                <a:solidFill>
                  <a:srgbClr val="5C6872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58F1A-E151-4F91-BC7E-EBE4BF6C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219200"/>
            <a:ext cx="8362950" cy="5076825"/>
          </a:xfrm>
          <a:prstGeom xmlns:a="http://schemas.openxmlformats.org/drawingml/2006/main" prst="roundRect">
            <a:avLst>
              <a:gd name="adj" fmla="val 22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a3304cdc24ce4"/>
          <a:stretch xmlns:a="http://schemas.openxmlformats.org/drawingml/2006/main"/>
        </p:blipFill>
        <p:spPr>
          <a:xfrm xmlns:a="http://schemas.openxmlformats.org/drawingml/2006/main">
            <a:off x="523875" y="1742839"/>
            <a:ext cx="8286750" cy="4029546"/>
          </a:xfrm>
          <a:prstGeom xmlns:a="http://schemas.openxmlformats.org/drawingml/2006/main" prst="roundRect">
            <a:avLst>
              <a:gd name="adj" fmla="val 15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2B873-F0E9-4C89-A7B0-5BE3B05A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28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3B5E"/>
                </a:solidFill>
              </a:defRPr>
            </a:pPr>
            <a:r>
              <a:rPr sz="1800" b="1">
                <a:solidFill>
                  <a:srgbClr val="173B5E"/>
                </a:solidFill>
              </a:rPr>
              <a:t>Execution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6B588-04B9-48EB-9967-76BD78C5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097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627F"/>
                </a:solidFill>
              </a:defRPr>
            </a:pPr>
            <a:r>
              <a:rPr sz="1350" b="1">
                <a:solidFill>
                  <a:srgbClr val="17627F"/>
                </a:solidFill>
              </a:rPr>
              <a:t>Initialize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C8493-DB87-452E-B627-CB02F639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05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C6872"/>
                </a:solidFill>
              </a:defRPr>
            </a:pPr>
            <a:r>
              <a:rPr sz="1200">
                <a:solidFill>
                  <a:srgbClr val="5C6872"/>
                </a:solidFill>
              </a:rPr>
              <a:t>Sequential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178C4-330B-4850-8BB4-2F90A690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035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627F"/>
                </a:solidFill>
              </a:defRPr>
            </a:pPr>
            <a:r>
              <a:rPr sz="1350" b="1">
                <a:solidFill>
                  <a:srgbClr val="17627F"/>
                </a:solidFill>
              </a:rPr>
              <a:t>Search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C9839-38F5-4D13-BA7C-65816071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956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C6872"/>
                </a:solidFill>
              </a:defRPr>
            </a:pPr>
            <a:r>
              <a:rPr sz="1200">
                <a:solidFill>
                  <a:srgbClr val="5C6872"/>
                </a:solidFill>
              </a:rPr>
              <a:t>RetePlus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72F71-CD10-45B1-8DF1-30B5FCA6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9092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627F"/>
                </a:solidFill>
              </a:defRPr>
            </a:pPr>
            <a:r>
              <a:rPr sz="1350" b="1">
                <a:solidFill>
                  <a:srgbClr val="17627F"/>
                </a:solidFill>
              </a:rPr>
              <a:t>All-routes recording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9C35A-D448-4145-AD46-F43E7307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862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C6872"/>
                </a:solidFill>
              </a:defRPr>
            </a:pPr>
            <a:r>
              <a:rPr sz="1200">
                <a:solidFill>
                  <a:srgbClr val="5C6872"/>
                </a:solidFill>
              </a:rPr>
              <a:t>Fastpath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0AD3A-FCEF-41A7-AF01-9855E5DA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57700"/>
            <a:ext cx="25717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3E4F4-26FD-4B44-93F8-56F544B9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E500"/>
                </a:solidFill>
              </a:defRPr>
            </a:pPr>
            <a:r>
              <a:rPr sz="1350" b="1">
                <a:solidFill>
                  <a:srgbClr val="FFE500"/>
                </a:solidFill>
              </a:rPr>
              <a:t>Inference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CCE69-EFF0-4AC9-AE0A-E3EB810A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673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Generate candidates → select lowest mileage → reject revisits → record route → repeat.</a:t>
            </a:r>
          </a:p>
        </p:txBody>
      </p:sp>
    </p:spTree>
    <p:extLst>
      <p:ext uri="{BB962C8B-B14F-4D97-AF65-F5344CB8AC3E}">
        <p14:creationId xmlns:p14="http://schemas.microsoft.com/office/powerpoint/2010/main" val="1217479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D111A-632D-42E1-AD4A-5B1B5EE3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8E7BC-FC2F-4631-B2CB-9E040560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spc="1">
                <a:solidFill>
                  <a:srgbClr val="17627F"/>
                </a:solidFill>
              </a:defRPr>
            </a:pPr>
            <a:r>
              <a:rPr sz="975" b="1" spc="1">
                <a:solidFill>
                  <a:srgbClr val="17627F"/>
                </a:solidFill>
              </a:rPr>
              <a:t>DEPLOYMENT EVIDENCE</a:t>
            </a:r>
          </a:p>
        </p:txBody>
      </p:sp>
      <p:sp>
        <p:nvSpPr>
          <p:cNvPr id="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E42CEBB-C7F8-42ED-90F0-70C6AD9D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B5E"/>
                </a:solidFill>
              </a:defRPr>
            </a:pPr>
            <a:r>
              <a:rPr sz="2625" b="1">
                <a:solidFill>
                  <a:srgbClr val="173B5E"/>
                </a:solidFill>
              </a:rPr>
              <a:t>Flights is deployed and enabled in Rule Execution Server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C6AFD-3386-4E24-AC47-B9F710C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C6872"/>
                </a:solidFill>
              </a:defRPr>
            </a:pPr>
            <a:r>
              <a:rPr sz="900" b="1">
                <a:solidFill>
                  <a:srgbClr val="5C6872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7B5D5-3679-471E-B58C-FB5F69A7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276350"/>
            <a:ext cx="11220450" cy="4838700"/>
          </a:xfrm>
          <a:prstGeom xmlns:a="http://schemas.openxmlformats.org/drawingml/2006/main" prst="roundRect">
            <a:avLst>
              <a:gd name="adj" fmla="val 23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e66cb4bb040da"/>
          <a:stretch xmlns:a="http://schemas.openxmlformats.org/drawingml/2006/main"/>
        </p:blipFill>
        <p:spPr>
          <a:xfrm xmlns:a="http://schemas.openxmlformats.org/drawingml/2006/main">
            <a:off x="542647" y="1314450"/>
            <a:ext cx="11106706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C52C3-B717-4F95-BCC9-49C662FD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6FBB4-3C0D-4ABC-B41E-6AECF238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96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RuleApp  FlightsDep / 1.0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87B82-4571-4E39-9AB0-84A9CA00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2960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Ruleset  Flights / 1.0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53F4B-D043-4425-A549-496F8029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2960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/FlightsDep/1.0/Flights/1.0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EA89C-77EB-43B7-BE26-C2AB3B29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960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4E1B2"/>
                </a:solidFill>
              </a:defRPr>
            </a:pPr>
            <a:r>
              <a:rPr sz="1050" b="1">
                <a:solidFill>
                  <a:srgbClr val="84E1B2"/>
                </a:solidFill>
              </a:rPr>
              <a:t>● ENABLED</a:t>
            </a:r>
          </a:p>
        </p:txBody>
      </p:sp>
    </p:spTree>
    <p:extLst>
      <p:ext uri="{BB962C8B-B14F-4D97-AF65-F5344CB8AC3E}">
        <p14:creationId xmlns:p14="http://schemas.microsoft.com/office/powerpoint/2010/main" val="19618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DCDCE-6E6F-439F-A17E-085376B2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0AB32-25D3-442C-96D5-CEDD154C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spc="1">
                <a:solidFill>
                  <a:srgbClr val="17627F"/>
                </a:solidFill>
              </a:defRPr>
            </a:pPr>
            <a:r>
              <a:rPr sz="975" b="1" spc="1">
                <a:solidFill>
                  <a:srgbClr val="17627F"/>
                </a:solidFill>
              </a:rPr>
              <a:t>EXECUTION EVIDENCE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43DFF87-B96B-498D-B9BD-5DF47847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B5E"/>
                </a:solidFill>
              </a:defRPr>
            </a:pPr>
            <a:r>
              <a:rPr sz="2625" b="1">
                <a:solidFill>
                  <a:srgbClr val="173B5E"/>
                </a:solidFill>
              </a:rPr>
              <a:t>A live REST execution returns the shortest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DE1C5-45BE-4D95-9E93-33B18ED0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C6872"/>
                </a:solidFill>
              </a:defRPr>
            </a:pPr>
            <a:r>
              <a:rPr sz="900" b="1">
                <a:solidFill>
                  <a:srgbClr val="5C687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AF9C5-F560-4AF5-92B7-E8C8FE67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00150"/>
            <a:ext cx="11468100" cy="47434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0793839364d6c"/>
          <a:stretch xmlns:a="http://schemas.openxmlformats.org/drawingml/2006/main"/>
        </p:blipFill>
        <p:spPr>
          <a:xfrm xmlns:a="http://schemas.openxmlformats.org/drawingml/2006/main">
            <a:off x="733150" y="1238250"/>
            <a:ext cx="107257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CED3E-199A-4A1E-8B75-710DC183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8E6CD-C0FC-4652-B7C3-3BC9DC38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 spc="1">
                <a:solidFill>
                  <a:srgbClr val="FFE500"/>
                </a:solidFill>
              </a:defRPr>
            </a:pPr>
            <a:r>
              <a:rPr sz="975" b="1" spc="1">
                <a:solidFill>
                  <a:srgbClr val="FFE500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FF0FE-22FC-4C4D-8D18-A52E8386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436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SFO → NYC  |  shortestRoute = true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3C744-EC00-4160-A8EC-9B80BE3D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1436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 spc="1">
                <a:solidFill>
                  <a:srgbClr val="FFE500"/>
                </a:solidFill>
              </a:defRPr>
            </a:pPr>
            <a:r>
              <a:rPr sz="975" b="1" spc="1">
                <a:solidFill>
                  <a:srgbClr val="FFE500"/>
                </a:solidFill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1E595-160D-4BB6-A170-B9855A34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SFO → CHI → NYC  |  2,982 miles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8F20B-1FAB-4866-988A-651382A4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43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 spc="1">
                <a:solidFill>
                  <a:srgbClr val="FFE500"/>
                </a:solidFill>
              </a:defRPr>
            </a:pPr>
            <a:r>
              <a:rPr sz="975" b="1" spc="1">
                <a:solidFill>
                  <a:srgbClr val="FFE500"/>
                </a:solidFill>
              </a:rPr>
              <a:t>DECISION 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75255-58F5-48B7-9329-BD4EAC33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43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flight-search-sfo-nyc-001</a:t>
            </a:r>
          </a:p>
        </p:txBody>
      </p:sp>
    </p:spTree>
    <p:extLst>
      <p:ext uri="{BB962C8B-B14F-4D97-AF65-F5344CB8AC3E}">
        <p14:creationId xmlns:p14="http://schemas.microsoft.com/office/powerpoint/2010/main" val="2994737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DCDCE-6E6F-439F-A17E-085376B2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0AB32-25D3-442C-96D5-CEDD154C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spc="1">
                <a:solidFill>
                  <a:srgbClr val="17627F"/>
                </a:solidFill>
              </a:defRPr>
            </a:pPr>
            <a:r>
              <a:rPr sz="975" b="1" spc="1">
                <a:solidFill>
                  <a:srgbClr val="17627F"/>
                </a:solidFill>
              </a:rPr>
              <a:t>EXECUTION EVIDENCE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43DFF87-B96B-498D-B9BD-5DF47847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B5E"/>
                </a:solidFill>
              </a:defRPr>
            </a:pPr>
            <a:r>
              <a:rPr sz="2625" b="1">
                <a:solidFill>
                  <a:srgbClr val="173B5E"/>
                </a:solidFill>
              </a:rPr>
              <a:t>A longest-route request returns the most distant valid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DE1C5-45BE-4D95-9E93-33B18ED0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C6872"/>
                </a:solidFill>
              </a:defRPr>
            </a:pPr>
            <a:r>
              <a:rPr sz="900" b="1">
                <a:solidFill>
                  <a:srgbClr val="5C6872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AF9C5-F560-4AF5-92B7-E8C8FE67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00150"/>
            <a:ext cx="11468100" cy="47434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CED3E-199A-4A1E-8B75-710DC183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8E6CD-C0FC-4652-B7C3-3BC9DC38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 spc="1">
                <a:solidFill>
                  <a:srgbClr val="FFE500"/>
                </a:solidFill>
              </a:defRPr>
            </a:pPr>
            <a:r>
              <a:rPr sz="975" b="1" spc="1">
                <a:solidFill>
                  <a:srgbClr val="FFE500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FF0FE-22FC-4C4D-8D18-A52E8386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436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SFO → NYC  |  LONGEST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3C744-EC00-4160-A8EC-9B80BE3D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1436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 spc="1">
                <a:solidFill>
                  <a:srgbClr val="FFE500"/>
                </a:solidFill>
              </a:defRPr>
            </a:pPr>
            <a:r>
              <a:rPr sz="975" b="1" spc="1">
                <a:solidFill>
                  <a:srgbClr val="FFE500"/>
                </a:solidFill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1E595-160D-4BB6-A170-B9855A34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via PHX + DFW  |  3,218 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8F20B-1FAB-4866-988A-651382A4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43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 spc="1">
                <a:solidFill>
                  <a:srgbClr val="FFE500"/>
                </a:solidFill>
              </a:defRPr>
            </a:pPr>
            <a:r>
              <a:rPr sz="975" b="1" spc="1">
                <a:solidFill>
                  <a:srgbClr val="FFE500"/>
                </a:solidFill>
              </a:rPr>
              <a:t>DECISION 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75255-58F5-48B7-9329-BD4EAC33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43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flight-longest-001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504000d0145ef"/>
          <a:stretch xmlns:a="http://schemas.openxmlformats.org/drawingml/2006/main"/>
        </p:blipFill>
        <p:spPr>
          <a:xfrm xmlns:a="http://schemas.openxmlformats.org/drawingml/2006/main">
            <a:off x="733150" y="1238250"/>
            <a:ext cx="10725700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737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2C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D8D416-1FC7-4E60-AC55-0A1C0DD7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 spc="2">
                <a:solidFill>
                  <a:srgbClr val="FFE500"/>
                </a:solidFill>
              </a:defRPr>
            </a:pPr>
            <a:r>
              <a:rPr sz="1125" b="1" spc="2">
                <a:solidFill>
                  <a:srgbClr val="FFE500"/>
                </a:solidFill>
              </a:rPr>
              <a:t>MIGRATION CONFIDENCE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493EB-565C-4658-9699-2D1AF243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Flights provides a high-confidence</a:t>
            </a:r>
          </a:p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proof point for the AUHN migration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C58C6-968E-447C-AB76-774F08B9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0A38D-4FB8-44E4-8A28-722E8DA1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3D1C2-BC58-40BB-B499-1E3BEA2E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E6415-29C5-4391-9F64-BB3DB21C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860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Source behavior analyzed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1DDF9-3A34-465B-9159-2CEBFF18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C7D7E3"/>
                </a:solidFill>
              </a:defRPr>
            </a:pPr>
            <a:r>
              <a:rPr sz="1275">
                <a:solidFill>
                  <a:srgbClr val="C7D7E3"/>
                </a:solidFill>
              </a:rPr>
              <a:t>Aion inputs, outputs and route-selection behavior captured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C8851-24A5-4F68-901B-556ED76C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B76DD-E1AE-4624-AEB1-3BEE262E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0B9EF-3C53-4F19-878A-9E3ABF5B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95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ODM implementation completed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3844C-8D28-47E6-82E5-6915AD8C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05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C7D7E3"/>
                </a:solidFill>
              </a:defRPr>
            </a:pPr>
            <a:r>
              <a:rPr sz="1275">
                <a:solidFill>
                  <a:srgbClr val="C7D7E3"/>
                </a:solidFill>
              </a:rPr>
              <a:t>XOM, BOM, vocabulary, helpers, rules and ruleflow are present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ACE7B-C1D6-4F00-9D47-0C1288A4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BE6D6-3B9C-43B6-B875-B52F1F4A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63C96-217E-41C5-A82C-CFF531C6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052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Inference reconstructed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227B0-B5B1-4E82-A8A3-472D1C85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148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C7D7E3"/>
                </a:solidFill>
              </a:defRPr>
            </a:pPr>
            <a:r>
              <a:rPr sz="1275">
                <a:solidFill>
                  <a:srgbClr val="C7D7E3"/>
                </a:solidFill>
              </a:rPr>
              <a:t>Candidate generation, lowest-mileage selection and revisit prevention execute as a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6773C-AE58-4484-8B49-F952DC82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6CC9E-E234-4B0A-ADE9-D6EC125B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66507-1876-4613-90E9-DFE328AF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14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Decision service deployed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4AFFD-8E50-47A5-A457-0A81726D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244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C7D7E3"/>
                </a:solidFill>
              </a:defRPr>
            </a:pPr>
            <a:r>
              <a:rPr sz="1275">
                <a:solidFill>
                  <a:srgbClr val="C7D7E3"/>
                </a:solidFill>
              </a:rPr>
              <a:t>FlightsDep / 1.0 and Flights / 1.0 are enabled in 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05973-1B6C-4BE9-B865-5E604366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32E12-835A-4A9A-B63C-C159CDB4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0913C-9506-430B-8E05-2A844E1B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244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Live result verified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495256-6953-4C7E-AE71-0A71511A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340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C7D7E3"/>
                </a:solidFill>
              </a:defRPr>
            </a:pPr>
            <a:r>
              <a:rPr sz="1275">
                <a:solidFill>
                  <a:srgbClr val="C7D7E3"/>
                </a:solidFill>
              </a:rPr>
              <a:t>SFO → CHI → NYC returned at 2,982 miles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D6E075-BB67-4B54-913F-B150CB1F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A1C5E8-60B5-4D03-99CF-1542F816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388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2C46"/>
                </a:solidFill>
              </a:defRPr>
            </a:pPr>
            <a:r>
              <a:rPr sz="1350" b="1">
                <a:solidFill>
                  <a:srgbClr val="0F2C46"/>
                </a:solidFill>
              </a:rPr>
              <a:t>Flights proves the migration pattern; each AUHN knowledge base still requires its own regression pack and business sign-off.</a:t>
            </a:r>
          </a:p>
        </p:txBody>
      </p:sp>
    </p:spTree>
    <p:extLst>
      <p:ext uri="{BB962C8B-B14F-4D97-AF65-F5344CB8AC3E}">
        <p14:creationId xmlns:p14="http://schemas.microsoft.com/office/powerpoint/2010/main" val="506209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2026-08-25T13:20:22.3730000Z</dcterms:created>
  <dcterms:modified xsi:type="dcterms:W3CDTF">2026-08-25T13:20:22.3730000Z</dcterms:modified>
</coreProperties>
</file>